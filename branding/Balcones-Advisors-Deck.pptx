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560320"/>
            <a:ext cx="914400" cy="50800"/>
          </a:xfrm>
          <a:prstGeom prst="rect">
            <a:avLst/>
          </a:prstGeom>
          <a:solidFill>
            <a:srgbClr val="C05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74320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Georgia"/>
              </a:defRPr>
            </a:pPr>
            <a:r>
              <a:t>Balcones Advisors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Calibri"/>
              </a:defRPr>
            </a:pPr>
            <a:r>
              <a:t>Elevating Your Protection. Securing Your Legacy.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AA"/>
                </a:solidFill>
                <a:latin typeface="Calibri"/>
              </a:defRPr>
            </a:pPr>
            <a:r>
              <a:t>Medicare  •  Health Insurance  •  Long-Term Care  •  Annuities  •  Disability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B7B8B"/>
                </a:solidFill>
                <a:latin typeface="Calibri"/>
              </a:defRPr>
            </a:pPr>
            <a:r>
              <a:t>Austin, Texas  |  Licensed in 8 States  |  balconesadvisors.com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Georgia"/>
              </a:defRPr>
            </a:pPr>
            <a:r>
              <a:t>Balcones Advisors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" cy="38100"/>
          </a:xfrm>
          <a:prstGeom prst="rect">
            <a:avLst/>
          </a:prstGeom>
          <a:solidFill>
            <a:srgbClr val="C05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93B"/>
                </a:solidFill>
                <a:latin typeface="Georgia"/>
              </a:defRPr>
            </a:pPr>
            <a:r>
              <a:t>Our Approach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6400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A5A6A"/>
                </a:solidFill>
                <a:latin typeface="Calibri"/>
              </a:defRPr>
            </a:pPr>
            <a:r>
              <a:t>We work as independent brokers — shopping across dozens of carriers to find the right combination of coverage and cost for your specific situation.</a:t>
            </a:r>
            <a:br/>
            <a:br/>
            <a:r>
              <a:t>No carrier loyalties. No quotas. Just honest, expert guidance.</a:t>
            </a:r>
            <a:br/>
            <a:br/>
            <a:r>
              <a:t>Our complimentary review process ensures you're never overpaying or under-covered.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8412480" y="1828800"/>
            <a:ext cx="2743200" cy="914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0" y="190500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93B"/>
                </a:solidFill>
                <a:latin typeface="Georgia"/>
              </a:defRPr>
            </a:pPr>
            <a:r>
              <a:t>15+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0" y="1955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Years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0" y="2926080"/>
            <a:ext cx="2743200" cy="914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0" y="300228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93B"/>
                </a:solidFill>
                <a:latin typeface="Georgia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0530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States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412480" y="4023360"/>
            <a:ext cx="2743200" cy="914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03920" y="40995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93B"/>
                </a:solidFill>
                <a:latin typeface="Georgia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4150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Product Lines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12480" y="5120640"/>
            <a:ext cx="2743200" cy="9144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519684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293B"/>
                </a:solidFill>
                <a:latin typeface="Georgia"/>
              </a:defRPr>
            </a:pPr>
            <a:r>
              <a:t>$0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524764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5A6A"/>
                </a:solidFill>
                <a:latin typeface="Calibri"/>
              </a:defRPr>
            </a:pPr>
            <a:r>
              <a:t>Client Cost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492240"/>
            <a:ext cx="12191695" cy="25400"/>
          </a:xfrm>
          <a:prstGeom prst="rect">
            <a:avLst/>
          </a:prstGeom>
          <a:solidFill>
            <a:srgbClr val="C05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A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Georgia"/>
              </a:defRPr>
            </a:pPr>
            <a:r>
              <a:t>Balcones Advisors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645920"/>
            <a:ext cx="731520" cy="38100"/>
          </a:xfrm>
          <a:prstGeom prst="rect">
            <a:avLst/>
          </a:prstGeom>
          <a:solidFill>
            <a:srgbClr val="C05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A293B"/>
                </a:solidFill>
                <a:latin typeface="Georgia"/>
              </a:defRPr>
            </a:pPr>
            <a:r>
              <a:t>What We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926080"/>
            <a:ext cx="3200400" cy="155448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6800" y="305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93B"/>
                </a:solidFill>
                <a:latin typeface="Georgia"/>
              </a:defRPr>
            </a:pPr>
            <a:r>
              <a:t>Medicare Solutions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6800" y="3408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Medicare Advantage, Supplement (Medigap), Part D prescription drug plans. We decode your options.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2926080"/>
            <a:ext cx="3200400" cy="155448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1520" y="305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93B"/>
                </a:solidFill>
                <a:latin typeface="Georgia"/>
              </a:defRPr>
            </a:pPr>
            <a:r>
              <a:t>Health Insurance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1520" y="3408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Individual, family, and group plans. We shop across carriers for the right fit and price.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926080"/>
            <a:ext cx="3200400" cy="155448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16240" y="3053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93B"/>
                </a:solidFill>
                <a:latin typeface="Georgia"/>
              </a:defRPr>
            </a:pPr>
            <a:r>
              <a:t>Long-Term Care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6240" y="34086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Standalone, hybrid, and self-funding strategies. Plan before you need 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4754880"/>
            <a:ext cx="3200400" cy="155448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6800" y="488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93B"/>
                </a:solidFill>
                <a:latin typeface="Georgia"/>
              </a:defRPr>
            </a:pPr>
            <a:r>
              <a:t>Annuities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6800" y="523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Fixed, variable, and indexed annuities for guaranteed retirement income.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4754880"/>
            <a:ext cx="3200400" cy="155448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1520" y="4881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293B"/>
                </a:solidFill>
                <a:latin typeface="Georgia"/>
              </a:defRPr>
            </a:pPr>
            <a:r>
              <a:t>Disability Insurance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1520" y="523748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A6A"/>
                </a:solidFill>
                <a:latin typeface="Calibri"/>
              </a:defRPr>
            </a:pPr>
            <a:r>
              <a:t>Income protection if injury or illness prevents you from working.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92240"/>
            <a:ext cx="12191695" cy="25400"/>
          </a:xfrm>
          <a:prstGeom prst="rect">
            <a:avLst/>
          </a:prstGeom>
          <a:solidFill>
            <a:srgbClr val="C05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71600" y="2286000"/>
            <a:ext cx="914400" cy="50800"/>
          </a:xfrm>
          <a:prstGeom prst="rect">
            <a:avLst/>
          </a:prstGeom>
          <a:solidFill>
            <a:srgbClr val="C05E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Georgia"/>
              </a:defRPr>
            </a:pPr>
            <a:r>
              <a:t>Let's Start a Conversation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Chris Guidroz  —  Founder &amp; Principal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4805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  <a:latin typeface="Calibri"/>
              </a:defRPr>
            </a:pPr>
            <a:r>
              <a:t>📧  info@balconesadvisors.com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8920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  <a:latin typeface="Calibri"/>
              </a:defRPr>
            </a:pPr>
            <a:r>
              <a:t>🌐  balconesadvisors.com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03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  <a:latin typeface="Calibri"/>
              </a:defRPr>
            </a:pPr>
            <a:r>
              <a:t>📍  Austin, Texas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6126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ABBCC"/>
                </a:solidFill>
                <a:latin typeface="Calibri"/>
              </a:defRPr>
            </a:pPr>
            <a:r>
              <a:t>Licensed in TX, LA, OK, AR, NM, CO, FL, 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05E44"/>
                </a:solidFill>
                <a:latin typeface="Calibri"/>
              </a:defRPr>
            </a:pPr>
            <a:r>
              <a:t>Free consultations  •  No obligation  •  Same cost as going direct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